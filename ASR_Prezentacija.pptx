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1" r:id="rId4"/>
  </p:sldMasterIdLst>
  <p:notesMasterIdLst>
    <p:notesMasterId r:id="rId19"/>
  </p:notesMasterIdLst>
  <p:handoutMasterIdLst>
    <p:handoutMasterId r:id="rId20"/>
  </p:handoutMasterIdLst>
  <p:sldIdLst>
    <p:sldId id="1581" r:id="rId5"/>
    <p:sldId id="1658" r:id="rId6"/>
    <p:sldId id="1659" r:id="rId7"/>
    <p:sldId id="1795" r:id="rId8"/>
    <p:sldId id="1796" r:id="rId9"/>
    <p:sldId id="1797" r:id="rId10"/>
    <p:sldId id="1798" r:id="rId11"/>
    <p:sldId id="1799" r:id="rId12"/>
    <p:sldId id="1802" r:id="rId13"/>
    <p:sldId id="1800" r:id="rId14"/>
    <p:sldId id="1801" r:id="rId15"/>
    <p:sldId id="1803" r:id="rId16"/>
    <p:sldId id="1582" r:id="rId17"/>
    <p:sldId id="1794" r:id="rId1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A3AC0"/>
    <a:srgbClr val="376092"/>
    <a:srgbClr val="5C4BC5"/>
    <a:srgbClr val="5867F6"/>
    <a:srgbClr val="0A1BBE"/>
    <a:srgbClr val="0066CC"/>
    <a:srgbClr val="081592"/>
    <a:srgbClr val="192EF3"/>
    <a:srgbClr val="2F40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18" autoAdjust="0"/>
    <p:restoredTop sz="96374" autoAdjust="0"/>
  </p:normalViewPr>
  <p:slideViewPr>
    <p:cSldViewPr>
      <p:cViewPr varScale="1">
        <p:scale>
          <a:sx n="107" d="100"/>
          <a:sy n="107" d="100"/>
        </p:scale>
        <p:origin x="1872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5718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7" d="100"/>
          <a:sy n="87" d="100"/>
        </p:scale>
        <p:origin x="384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069BB1-D03D-4AE9-8879-A2C9D24ADD23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22656A-7F69-4A44-87E6-AD76825CE2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66292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44FCA0-EB00-4933-A092-B175FFE8760D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0F6D8F-52A4-4325-8831-5D637055B7D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3022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r-Latn-RS" altLang="en-US" sz="1200" dirty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0F6D8F-52A4-4325-8831-5D637055B7D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7822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0F6D8F-52A4-4325-8831-5D637055B7D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3046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0F6D8F-52A4-4325-8831-5D637055B7D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35016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15DDB-6ADD-4624-9656-54614EA0F1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C28BA9-CB95-43BF-AD15-FCBDBFB8E6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2B26D9-9B15-4FAF-9468-EC44CE8195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6E661-2EB0-4B57-AABC-FE05B4D86A8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9ECC14-83E4-4ABA-B113-BC73085E0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66574B-AFF9-420F-9EC4-0A2B1EF84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29490-92B9-4214-BE39-2980FDB7A3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8170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60B6F-DDB2-457F-BA89-44B9C5E1C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5528EB-8E7C-4711-A845-EB8582D252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2C10DF-A2C2-4DAA-8737-801D74AAC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6E661-2EB0-4B57-AABC-FE05B4D86A8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741B1-9368-4538-B091-21E552753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8C8479-926D-4029-86DE-0D8543F13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29490-92B9-4214-BE39-2980FDB7A3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8569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D35C6-4921-45AA-94AF-8B09BC0827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73BDAC-B8A4-4B32-8259-1CB8A9FB84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F4D428-D4AE-4F42-9DF7-999EF75F2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6E661-2EB0-4B57-AABC-FE05B4D86A8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AD29C4-6152-484A-8F67-525967DEB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DB3648-3616-4E14-8F48-96B1BE4E8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29490-92B9-4214-BE39-2980FDB7A3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8903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7563AC-11F9-4B77-8137-80F38CBB7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7CB9B-FA15-470D-ACF3-05A1D63077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F50CAD-05B3-4D3E-9EDB-56833E9E7C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1F32C2-7992-40A0-879D-823A1C0A9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6E661-2EB0-4B57-AABC-FE05B4D86A8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AD907D-F4C2-4CCC-A29C-6A67BBF80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714098-9488-48E4-BD4E-BF0F2CB0E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29490-92B9-4214-BE39-2980FDB7A3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925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84917-2E4F-431E-A920-26B3F63708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0769EB-B6C2-4B43-814E-6E491E6580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C4DB2C-EFF4-4CFD-B3F2-772054408C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F195E68-E708-49F7-BF0C-B73750E326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7A8B3C-F750-422D-B54F-3130D2390F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959A4A0-69DA-4BAD-8C14-D485535B1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6E661-2EB0-4B57-AABC-FE05B4D86A8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746929-E43B-494E-8A8F-E5B985E5F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9D98C6F-D29E-4B7F-85E2-B6C3B8874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29490-92B9-4214-BE39-2980FDB7A3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1069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D8AE2-9055-4E32-B8C1-31CCF2DF2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10C6E8-0D36-4622-996B-E896FBB3E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6E661-2EB0-4B57-AABC-FE05B4D86A8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AF6E70-EBF7-40AB-BD36-2663E263A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BE4867-0F79-48F1-9615-A5699BB26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29490-92B9-4214-BE39-2980FDB7A3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6377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C3DD07-D884-415E-AB3F-2C88C2CC9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6E661-2EB0-4B57-AABC-FE05B4D86A8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7279F1-2114-42D8-A883-9CA0B37C98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B242C9-3D4A-4072-9E06-FB4C3166F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29490-92B9-4214-BE39-2980FDB7A3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7792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1A03A-C802-41DB-AB64-ADCC1F6DE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156A50-BE24-4CFC-9B70-15E21B073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9B7026-E6BE-4FCC-AFA2-021F99B981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E5CFEC-6A87-4BD8-9E07-F545B68D7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6E661-2EB0-4B57-AABC-FE05B4D86A8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D7F696-E677-48D3-A19B-37F288900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8A53DF-E935-46AC-B494-74E1E5DAC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29490-92B9-4214-BE39-2980FDB7A3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2926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4583C-7855-407C-909A-8B6867A9E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9DBD86-551C-469D-A8B9-696CF9CF86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593428-31C5-49EC-A486-A30B170DDD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B9533F-D36F-41DD-B70D-11501EFA8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6E661-2EB0-4B57-AABC-FE05B4D86A8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A85607-4AB8-4FEA-88EE-65F965943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0E375-96A2-4720-BE8B-90F911D02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29490-92B9-4214-BE39-2980FDB7A3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568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1CB13-19C7-468A-BFC6-95CB7D3E9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08DA66-F8A2-4090-A784-D92A505F5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E195A-F6BE-4575-AE69-D6BF9D282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6E661-2EB0-4B57-AABC-FE05B4D86A8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D4653C-7727-46C7-A686-B2EB5CC67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154332-552C-4EEC-BAEB-E89562344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29490-92B9-4214-BE39-2980FDB7A3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041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F6B15A-0FFF-4113-B8CD-5229E6F99E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07DD32-0D59-48CE-AFE4-8921CA0B9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EED7F8-C643-4B45-8AEF-7065BD170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6E661-2EB0-4B57-AABC-FE05B4D86A8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3394DD-C379-4189-AD38-56DDA6EEE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8896DB-D244-48C4-875C-0AA3C6174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E29490-92B9-4214-BE39-2980FDB7A3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890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3FFB0-6C0B-4EAC-96EB-DF7F46AE1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735479-CCDD-40B6-A84E-85200C1879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992E28-8972-45F6-923E-AA19421A4D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76E661-2EB0-4B57-AABC-FE05B4D86A8F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A6A350-E579-40BB-BE0E-4F0F82E921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C0D98B-8085-49E7-AA05-FFDC323DFD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E29490-92B9-4214-BE39-2980FDB7A3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0274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2" r:id="rId1"/>
    <p:sldLayoutId id="2147483763" r:id="rId2"/>
    <p:sldLayoutId id="2147483764" r:id="rId3"/>
    <p:sldLayoutId id="2147483765" r:id="rId4"/>
    <p:sldLayoutId id="2147483766" r:id="rId5"/>
    <p:sldLayoutId id="2147483767" r:id="rId6"/>
    <p:sldLayoutId id="2147483768" r:id="rId7"/>
    <p:sldLayoutId id="2147483769" r:id="rId8"/>
    <p:sldLayoutId id="2147483770" r:id="rId9"/>
    <p:sldLayoutId id="2147483771" r:id="rId10"/>
    <p:sldLayoutId id="2147483772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1304764"/>
            <a:ext cx="9144000" cy="464451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5913276"/>
            <a:ext cx="9144000" cy="252028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-464" y="6523466"/>
            <a:ext cx="9144000" cy="317190"/>
          </a:xfrm>
          <a:prstGeom prst="rect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lnSpc>
                <a:spcPct val="150000"/>
              </a:lnSpc>
            </a:pPr>
            <a:r>
              <a:rPr lang="en-US" dirty="0">
                <a:solidFill>
                  <a:srgbClr val="0A3A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jelena.nikolic@elfak.ni.ac.rs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20"/>
            <a:ext cx="9144000" cy="216024"/>
          </a:xfrm>
          <a:prstGeom prst="rect">
            <a:avLst/>
          </a:prstGeom>
          <a:solidFill>
            <a:srgbClr val="339966"/>
          </a:solidFill>
          <a:ln>
            <a:solidFill>
              <a:srgbClr val="3399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0" y="6165304"/>
            <a:ext cx="9144000" cy="144016"/>
          </a:xfrm>
          <a:prstGeom prst="rect">
            <a:avLst/>
          </a:prstGeom>
          <a:solidFill>
            <a:srgbClr val="003300"/>
          </a:solidFill>
          <a:ln>
            <a:solidFill>
              <a:srgbClr val="00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-464" y="0"/>
            <a:ext cx="9144464" cy="126876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4"/>
          <p:cNvSpPr txBox="1">
            <a:spLocks noChangeArrowheads="1"/>
          </p:cNvSpPr>
          <p:nvPr/>
        </p:nvSpPr>
        <p:spPr bwMode="auto">
          <a:xfrm>
            <a:off x="1169725" y="139859"/>
            <a:ext cx="6930667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sr-Cyrl-RS" altLang="en-US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Универзитет у Нишу</a:t>
            </a:r>
            <a:endParaRPr lang="sr-Latn-RS" altLang="en-US" sz="2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sr-Cyrl-RS" altLang="en-US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Електронски факултет</a:t>
            </a:r>
            <a:endParaRPr lang="sr-Latn-RS" altLang="en-US" sz="2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-464" y="2187835"/>
            <a:ext cx="9144463" cy="118006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GB"/>
            </a:defPPr>
            <a:lvl1pPr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1pPr>
            <a:lvl2pPr marL="741363" indent="-28416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2pPr>
            <a:lvl3pPr marL="11414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3pPr>
            <a:lvl4pPr marL="15986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4pPr>
            <a:lvl5pPr marL="20558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9pPr>
          </a:lstStyle>
          <a:p>
            <a:pPr algn="ctr" defTabSz="457152">
              <a:buFont typeface="Times New Roman" pitchFamily="18" charset="0"/>
              <a:buNone/>
              <a:defRPr/>
            </a:pPr>
            <a:r>
              <a:rPr lang="sr-Cyrl-RS" sz="4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Faster-Whisper &amp; CTranslate2</a:t>
            </a:r>
            <a:endParaRPr lang="sr-Latn-RS" sz="48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 defTabSz="457152">
              <a:buFont typeface="Times New Roman" pitchFamily="18" charset="0"/>
              <a:buNone/>
              <a:defRPr/>
            </a:pPr>
            <a:r>
              <a:rPr lang="sr-Cyrl-RS"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Милош Пуношевац, бр. инд. 2134</a:t>
            </a:r>
            <a:endParaRPr lang="sr-Cyrl-RS" sz="28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588223" y="5877272"/>
            <a:ext cx="2555777" cy="550279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GB"/>
            </a:defPPr>
            <a:lvl1pPr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1pPr>
            <a:lvl2pPr marL="741363" indent="-28416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2pPr>
            <a:lvl3pPr marL="11414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3pPr>
            <a:lvl4pPr marL="15986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4pPr>
            <a:lvl5pPr marL="20558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9pPr>
          </a:lstStyle>
          <a:p>
            <a:pPr defTabSz="457152">
              <a:buFont typeface="Times New Roman" pitchFamily="18" charset="0"/>
              <a:buNone/>
              <a:defRPr/>
            </a:pPr>
            <a:r>
              <a:rPr lang="sr-Cyrl-R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Др Јелена Николић</a:t>
            </a:r>
            <a:r>
              <a:rPr lang="sr-Latn-R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endParaRPr lang="en-US" sz="1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defTabSz="457152">
              <a:buFont typeface="Times New Roman" pitchFamily="18" charset="0"/>
              <a:buNone/>
              <a:defRPr/>
            </a:pPr>
            <a:r>
              <a:rPr lang="sr-Cyrl-R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редовни професор</a:t>
            </a:r>
            <a:endParaRPr lang="en-GB" sz="1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2008" y="5877272"/>
            <a:ext cx="2987824" cy="321306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GB"/>
            </a:defPPr>
            <a:lvl1pPr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1pPr>
            <a:lvl2pPr marL="741363" indent="-28416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2pPr>
            <a:lvl3pPr marL="11414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3pPr>
            <a:lvl4pPr marL="15986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4pPr>
            <a:lvl5pPr marL="20558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9pPr>
          </a:lstStyle>
          <a:p>
            <a:pPr defTabSz="457152">
              <a:buFont typeface="Times New Roman" pitchFamily="18" charset="0"/>
              <a:buNone/>
              <a:defRPr/>
            </a:pPr>
            <a:r>
              <a:rPr lang="sr-Latn-R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202</a:t>
            </a:r>
            <a:r>
              <a:rPr lang="sr-Cyrl-RS" sz="1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6.</a:t>
            </a:r>
            <a:endParaRPr lang="en-GB" sz="1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BECB7F1-ABC6-4E85-8462-2DC0E55E9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5786" y="-27109"/>
            <a:ext cx="1426679" cy="1276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1906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84400"/>
            <a:ext cx="7596336" cy="90872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>
            <a:solidFill>
              <a:srgbClr val="3399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>
            <a:solidFill>
              <a:srgbClr val="00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95537" y="1216491"/>
            <a:ext cx="8496944" cy="4955203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GB"/>
            </a:defPPr>
            <a:lvl1pPr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1pPr>
            <a:lvl2pPr marL="741363" indent="-28416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2pPr>
            <a:lvl3pPr marL="11414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3pPr>
            <a:lvl4pPr marL="15986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4pPr>
            <a:lvl5pPr marL="20558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9pPr>
          </a:lstStyle>
          <a:p>
            <a:pPr algn="just" defTabSz="457152" hangingPunct="1">
              <a:lnSpc>
                <a:spcPct val="100000"/>
              </a:lnSpc>
              <a:defRPr/>
            </a:pPr>
            <a:r>
              <a:rPr lang="sr-Cyrl-RS" altLang="en-US" sz="28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Садржина презентације</a:t>
            </a:r>
          </a:p>
          <a:p>
            <a:pPr marL="571500" indent="-215900" algn="just" defTabSz="457152" hangingPunct="1">
              <a:lnSpc>
                <a:spcPct val="10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Актуелност и мотивација </a:t>
            </a:r>
            <a:r>
              <a:rPr lang="en-US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sr-Cyrl-RS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ограничења Whisper-а у продукцији</a:t>
            </a:r>
          </a:p>
          <a:p>
            <a:pPr marL="571500" indent="-215900" algn="just" defTabSz="457152" hangingPunct="1">
              <a:lnSpc>
                <a:spcPct val="10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Теоријска основа </a:t>
            </a:r>
            <a:r>
              <a:rPr lang="en-US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sr-Cyrl-RS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CTranslate2 и Faster-Whisper архитектура</a:t>
            </a:r>
            <a:endParaRPr lang="sr-Latn-RS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215900" algn="just" defTabSz="457152" hangingPunct="1">
              <a:lnSpc>
                <a:spcPct val="10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Примене и алати засновани на Faster-Whisper-у</a:t>
            </a:r>
          </a:p>
          <a:p>
            <a:pPr marL="571500" indent="-215900" algn="just" defTabSz="457152" hangingPunct="1">
              <a:lnSpc>
                <a:spcPct val="10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Поређење перформанси и оригинални допринос </a:t>
            </a:r>
            <a:r>
              <a:rPr lang="en-US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sr-Cyrl-RS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евалуација на српском говору.</a:t>
            </a:r>
          </a:p>
          <a:p>
            <a:pPr marL="571500" indent="-215900" algn="just" defTabSz="457152" hangingPunct="1">
              <a:lnSpc>
                <a:spcPct val="100000"/>
              </a:lnSpc>
              <a:buFont typeface="Arial" panose="020B0604020202020204" pitchFamily="34" charset="0"/>
              <a:buChar char="•"/>
              <a:defRPr/>
            </a:pPr>
            <a:endParaRPr lang="sr-Cyrl-RS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5600" algn="just" defTabSz="457152" hangingPunct="1">
              <a:lnSpc>
                <a:spcPct val="100000"/>
              </a:lnSpc>
              <a:defRPr/>
            </a:pPr>
            <a:endParaRPr lang="sr-Cyrl-RS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5600" algn="just" defTabSz="457152" hangingPunct="1">
              <a:lnSpc>
                <a:spcPct val="100000"/>
              </a:lnSpc>
              <a:defRPr/>
            </a:pPr>
            <a:endParaRPr lang="sr-Cyrl-RS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5600" algn="just" defTabSz="457152" hangingPunct="1">
              <a:lnSpc>
                <a:spcPct val="100000"/>
              </a:lnSpc>
              <a:defRPr/>
            </a:pPr>
            <a:endParaRPr lang="sr-Cyrl-RS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5600" algn="just" defTabSz="457152" hangingPunct="1">
              <a:lnSpc>
                <a:spcPct val="100000"/>
              </a:lnSpc>
              <a:defRPr/>
            </a:pPr>
            <a:r>
              <a:rPr lang="sr-Cyrl-RS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GB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85800" y="414505"/>
            <a:ext cx="6624736" cy="607539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GB"/>
            </a:defPPr>
            <a:lvl1pPr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1pPr>
            <a:lvl2pPr marL="741363" indent="-28416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2pPr>
            <a:lvl3pPr marL="11414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3pPr>
            <a:lvl4pPr marL="15986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4pPr>
            <a:lvl5pPr marL="20558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9pPr>
          </a:lstStyle>
          <a:p>
            <a:pPr algn="ctr" defTabSz="457152">
              <a:buFont typeface="Times New Roman" pitchFamily="18" charset="0"/>
              <a:buNone/>
              <a:defRPr/>
            </a:pPr>
            <a:r>
              <a:rPr lang="sr-Cyrl-R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Faster-Whisper &amp; CTranslate2</a:t>
            </a:r>
            <a:endParaRPr lang="en-US" sz="40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8058738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>
            <a:solidFill>
              <a:srgbClr val="3399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>
            <a:solidFill>
              <a:srgbClr val="00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72255" y="1196752"/>
            <a:ext cx="8892233" cy="4128759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GB"/>
            </a:defPPr>
            <a:lvl1pPr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1pPr>
            <a:lvl2pPr marL="741363" indent="-28416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2pPr>
            <a:lvl3pPr marL="11414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3pPr>
            <a:lvl4pPr marL="15986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4pPr>
            <a:lvl5pPr marL="20558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9pPr>
          </a:lstStyle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Whisper </a:t>
            </a: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вишејезични АСР модел компаније </a:t>
            </a: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OpenAI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објављен 2022. године, трениран на ~680.000 сати аудио материјала.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Енкодер-декодер трансформерска архитектура: аудио → </a:t>
            </a: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Мел-спектрограм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(80 банки, прозор 30s) → енкодер → декодер са cross-attention.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Декодирање методом претраге зрака (beam search, подразумевана величина 5); токенизација BPE алгоритмом, речник 51.865 токена.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Величине модела: од </a:t>
            </a: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tiny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(39M параметара) до </a:t>
            </a: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large-v3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(1,55 милијарди параметара).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Ограничења референтне </a:t>
            </a: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PyTorch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имплементације: спора инференција на CPU, висока потрошња меморије, зависност од FFmpeg-а.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A59DEF-1FC9-41A9-AAE4-B1B2547E6843}"/>
              </a:ext>
            </a:extLst>
          </p:cNvPr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C846CF4-B466-4682-8D57-9140F8774A41}"/>
              </a:ext>
            </a:extLst>
          </p:cNvPr>
          <p:cNvSpPr/>
          <p:nvPr/>
        </p:nvSpPr>
        <p:spPr>
          <a:xfrm>
            <a:off x="502576" y="438622"/>
            <a:ext cx="8200000" cy="407163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GB"/>
            </a:defPPr>
            <a:lvl1pPr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1pPr>
            <a:lvl2pPr marL="741363" indent="-28416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2pPr>
            <a:lvl3pPr marL="11414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3pPr>
            <a:lvl4pPr marL="15986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4pPr>
            <a:lvl5pPr marL="20558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9pPr>
          </a:lstStyle>
          <a:p>
            <a:pPr algn="ctr" defTabSz="457152">
              <a:buFont typeface="Times New Roman" pitchFamily="18" charset="0"/>
              <a:buNone/>
              <a:defRPr/>
            </a:pPr>
            <a:r>
              <a:rPr lang="sr-Cyrl-RS" sz="2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Whisper </a:t>
            </a:r>
            <a:r>
              <a:rPr lang="en-US" sz="2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</a:t>
            </a:r>
            <a:r>
              <a:rPr lang="sr-Cyrl-RS" sz="2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архитектура и ограничења</a:t>
            </a:r>
          </a:p>
        </p:txBody>
      </p:sp>
    </p:spTree>
    <p:extLst>
      <p:ext uri="{BB962C8B-B14F-4D97-AF65-F5344CB8AC3E}">
        <p14:creationId xmlns:p14="http://schemas.microsoft.com/office/powerpoint/2010/main" val="29053580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>
            <a:solidFill>
              <a:srgbClr val="3399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>
            <a:solidFill>
              <a:srgbClr val="00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72255" y="1196752"/>
            <a:ext cx="8892233" cy="3451651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GB"/>
            </a:defPPr>
            <a:lvl1pPr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1pPr>
            <a:lvl2pPr marL="741363" indent="-28416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2pPr>
            <a:lvl3pPr marL="11414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3pPr>
            <a:lvl4pPr marL="15986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4pPr>
            <a:lvl5pPr marL="20558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9pPr>
          </a:lstStyle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CTranslate2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оптимизовани inference engine за трансформер моделе, развијен у оквиру пројекта OpenNMT.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За разлику од PyTorch/TensorFlow (оптимизовани за тренинг), CTranslate2 је пројектован искључиво за инференцију.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Квантизација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тежина (FP32 → FP16/INT8) смањује меморију и убрзава матричне операције, без потребе за поновним тренингом.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SIMD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оптимизације за CPU (AVX, AVX2, AVX-512, NEON за ARM/Apple Silicon) и прилагођени CUDA кернели за GPU.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Фузија операција, ефикасно управљање меморијом (KV cache) и подршка за вишенитно и пакетно извршавање (batching).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A59DEF-1FC9-41A9-AAE4-B1B2547E6843}"/>
              </a:ext>
            </a:extLst>
          </p:cNvPr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C846CF4-B466-4682-8D57-9140F8774A41}"/>
              </a:ext>
            </a:extLst>
          </p:cNvPr>
          <p:cNvSpPr/>
          <p:nvPr/>
        </p:nvSpPr>
        <p:spPr>
          <a:xfrm>
            <a:off x="502576" y="438622"/>
            <a:ext cx="8200000" cy="407163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GB"/>
            </a:defPPr>
            <a:lvl1pPr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1pPr>
            <a:lvl2pPr marL="741363" indent="-28416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2pPr>
            <a:lvl3pPr marL="11414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3pPr>
            <a:lvl4pPr marL="15986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4pPr>
            <a:lvl5pPr marL="20558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9pPr>
          </a:lstStyle>
          <a:p>
            <a:pPr algn="ctr" defTabSz="457152">
              <a:buFont typeface="Times New Roman" pitchFamily="18" charset="0"/>
              <a:buNone/>
              <a:defRPr/>
            </a:pPr>
            <a:r>
              <a:rPr lang="sr-Cyrl-RS" sz="2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CTranslate2 </a:t>
            </a:r>
            <a:r>
              <a:rPr lang="en-US" sz="2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</a:t>
            </a:r>
            <a:r>
              <a:rPr lang="sr-Cyrl-RS" sz="2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inference engine</a:t>
            </a:r>
          </a:p>
        </p:txBody>
      </p:sp>
    </p:spTree>
    <p:extLst>
      <p:ext uri="{BB962C8B-B14F-4D97-AF65-F5344CB8AC3E}">
        <p14:creationId xmlns:p14="http://schemas.microsoft.com/office/powerpoint/2010/main" val="29053580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>
            <a:solidFill>
              <a:srgbClr val="3399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>
            <a:solidFill>
              <a:srgbClr val="00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72255" y="1196752"/>
            <a:ext cx="8892233" cy="3451651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GB"/>
            </a:defPPr>
            <a:lvl1pPr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1pPr>
            <a:lvl2pPr marL="741363" indent="-28416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2pPr>
            <a:lvl3pPr marL="11414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3pPr>
            <a:lvl4pPr marL="15986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4pPr>
            <a:lvl5pPr marL="20558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9pPr>
          </a:lstStyle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Faster-Whisper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реимплементација Whisper-а заснована на CTranslate2, развио тим SYSTRAN; иста тачност, знатно већа брзина.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Интегрисана детекција гласовне активности (</a:t>
            </a: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VAD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) помоћу Silero VAD модела </a:t>
            </a: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прескаче сегменте без говора.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Временске ознаке на нивоу речи на основу анализе декодерске пажње (cross-attention).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Стримовање резултата током транскрипције (генератор сегмената) и подршка за пакетну инференцију (batch_size).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Без зависности од </a:t>
            </a: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FFmpeg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-а (користи PyAV) и компатибилност са Distil-Whisper моделима.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A59DEF-1FC9-41A9-AAE4-B1B2547E6843}"/>
              </a:ext>
            </a:extLst>
          </p:cNvPr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C846CF4-B466-4682-8D57-9140F8774A41}"/>
              </a:ext>
            </a:extLst>
          </p:cNvPr>
          <p:cNvSpPr/>
          <p:nvPr/>
        </p:nvSpPr>
        <p:spPr>
          <a:xfrm>
            <a:off x="502576" y="438622"/>
            <a:ext cx="8200000" cy="407163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GB"/>
            </a:defPPr>
            <a:lvl1pPr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1pPr>
            <a:lvl2pPr marL="741363" indent="-28416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2pPr>
            <a:lvl3pPr marL="11414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3pPr>
            <a:lvl4pPr marL="15986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4pPr>
            <a:lvl5pPr marL="20558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9pPr>
          </a:lstStyle>
          <a:p>
            <a:pPr algn="ctr" defTabSz="457152">
              <a:buFont typeface="Times New Roman" pitchFamily="18" charset="0"/>
              <a:buNone/>
              <a:defRPr/>
            </a:pPr>
            <a:r>
              <a:rPr lang="sr-Cyrl-RS" sz="2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Faster-Whisper </a:t>
            </a:r>
            <a:r>
              <a:rPr lang="en-US" sz="2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</a:t>
            </a:r>
            <a:r>
              <a:rPr lang="sr-Cyrl-RS" sz="2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карактеристике</a:t>
            </a:r>
          </a:p>
        </p:txBody>
      </p:sp>
    </p:spTree>
    <p:extLst>
      <p:ext uri="{BB962C8B-B14F-4D97-AF65-F5344CB8AC3E}">
        <p14:creationId xmlns:p14="http://schemas.microsoft.com/office/powerpoint/2010/main" val="29053580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>
            <a:solidFill>
              <a:srgbClr val="3399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>
            <a:solidFill>
              <a:srgbClr val="00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72255" y="1300000"/>
            <a:ext cx="8892233" cy="3882538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GB"/>
            </a:defPPr>
            <a:lvl1pPr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1pPr>
            <a:lvl2pPr marL="741363" indent="-28416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2pPr>
            <a:lvl3pPr marL="11414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3pPr>
            <a:lvl4pPr marL="15986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4pPr>
            <a:lvl5pPr marL="20558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9pPr>
          </a:lstStyle>
          <a:p>
            <a:pPr marL="0" indent="0" algn="l" defTabSz="457152" hangingPunct="1">
              <a:lnSpc>
                <a:spcPct val="110000"/>
              </a:lnSpc>
              <a:buNone/>
              <a:defRPr/>
            </a:pPr>
            <a:r>
              <a:rPr lang="sr-Cyrl-RS" altLang="en-US" sz="2000" b="1" dirty="0">
                <a:solidFill>
                  <a:srgbClr val="0A3A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Поређење на NVIDIA RTX 3070 Ti (large-v2, 13 мин аудио, FP16)</a:t>
            </a:r>
          </a:p>
          <a:p>
            <a:pPr marL="0" algn="l" defTabSz="457152" hangingPunct="1">
              <a:lnSpc>
                <a:spcPct val="60000"/>
              </a:lnSpc>
              <a:buNone/>
              <a:defRPr/>
            </a:pPr>
            <a:endParaRPr lang="sr-Cyrl-RS" altLang="en-US" sz="1000" dirty="0"/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openai/whisper: 2м 23с, 4708 МБ VRAM  |  transformers (SDPA): 1м 52с, 4960 МБ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faster-whisper FP16: 1м 03с, 4525 МБ</a:t>
            </a: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убрзање </a:t>
            </a: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~2,3×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у односу на оригинал.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faster-whisper batch=8: 17с</a:t>
            </a: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убрзање </a:t>
            </a: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~8×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уз већу потрошњу меморије (6090 МБ).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faster-whisper </a:t>
            </a: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INT8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59с, само 2926 МБ VRAM (−38% у односу на FP16).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На CPU (нпр. Apple M1) разлике су још израженије</a:t>
            </a: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убрзање и до </a:t>
            </a: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4×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захваљујући SIMD/NEON и INT8 квантизацији.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A59DEF-1FC9-41A9-AAE4-B1B2547E6843}"/>
              </a:ext>
            </a:extLst>
          </p:cNvPr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C846CF4-B466-4682-8D57-9140F8774A41}"/>
              </a:ext>
            </a:extLst>
          </p:cNvPr>
          <p:cNvSpPr/>
          <p:nvPr/>
        </p:nvSpPr>
        <p:spPr>
          <a:xfrm>
            <a:off x="502576" y="438622"/>
            <a:ext cx="8200000" cy="65000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GB"/>
            </a:defPPr>
            <a:lvl1pPr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1pPr>
            <a:lvl2pPr marL="741363" indent="-28416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2pPr>
            <a:lvl3pPr marL="11414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3pPr>
            <a:lvl4pPr marL="15986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4pPr>
            <a:lvl5pPr marL="20558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9pPr>
          </a:lstStyle>
          <a:p>
            <a:pPr algn="ctr" defTabSz="457152">
              <a:buFont typeface="Times New Roman" pitchFamily="18" charset="0"/>
              <a:buNone/>
              <a:defRPr/>
            </a:pPr>
            <a:r>
              <a:rPr lang="sr-Cyrl-RS" sz="2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Поређење перформанси</a:t>
            </a:r>
          </a:p>
        </p:txBody>
      </p:sp>
    </p:spTree>
    <p:extLst>
      <p:ext uri="{BB962C8B-B14F-4D97-AF65-F5344CB8AC3E}">
        <p14:creationId xmlns:p14="http://schemas.microsoft.com/office/powerpoint/2010/main" val="2905358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>
            <a:solidFill>
              <a:srgbClr val="3399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>
            <a:solidFill>
              <a:srgbClr val="00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72255" y="1196752"/>
            <a:ext cx="8892233" cy="3451651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GB"/>
            </a:defPPr>
            <a:lvl1pPr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1pPr>
            <a:lvl2pPr marL="741363" indent="-28416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2pPr>
            <a:lvl3pPr marL="11414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3pPr>
            <a:lvl4pPr marL="15986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4pPr>
            <a:lvl5pPr marL="20558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9pPr>
          </a:lstStyle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faster-whisper-server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сервер компатибилан са OpenAI Whisper API-јем, drop-in замена без измена кода апликације.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WhisperX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додаје прецизно поравнање временских ознака (wav2vec2) и дијаризацију говорника (pyannote.audio).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whisper_streaming и WhisperLive </a:t>
            </a: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транскрипција у реалном времену, латенција ~500–800 ms.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whisper-ctranslate2 </a:t>
            </a: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CLI алат потпуно компатибилан са оригиналним openai/whisper алатом командне линије.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Генерисање титлова (SRT/VTT), локални гласовни асистенти на Raspberry Pi и Apple Silicon уређајима.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A59DEF-1FC9-41A9-AAE4-B1B2547E6843}"/>
              </a:ext>
            </a:extLst>
          </p:cNvPr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C846CF4-B466-4682-8D57-9140F8774A41}"/>
              </a:ext>
            </a:extLst>
          </p:cNvPr>
          <p:cNvSpPr/>
          <p:nvPr/>
        </p:nvSpPr>
        <p:spPr>
          <a:xfrm>
            <a:off x="502576" y="438622"/>
            <a:ext cx="8200000" cy="65000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GB"/>
            </a:defPPr>
            <a:lvl1pPr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1pPr>
            <a:lvl2pPr marL="741363" indent="-28416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2pPr>
            <a:lvl3pPr marL="11414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3pPr>
            <a:lvl4pPr marL="15986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4pPr>
            <a:lvl5pPr marL="20558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9pPr>
          </a:lstStyle>
          <a:p>
            <a:pPr algn="ctr" defTabSz="457152">
              <a:buFont typeface="Times New Roman" pitchFamily="18" charset="0"/>
              <a:buNone/>
              <a:defRPr/>
            </a:pPr>
            <a:r>
              <a:rPr lang="sr-Cyrl-RS" sz="2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Примене и алати</a:t>
            </a:r>
          </a:p>
        </p:txBody>
      </p:sp>
    </p:spTree>
    <p:extLst>
      <p:ext uri="{BB962C8B-B14F-4D97-AF65-F5344CB8AC3E}">
        <p14:creationId xmlns:p14="http://schemas.microsoft.com/office/powerpoint/2010/main" val="29053580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>
            <a:solidFill>
              <a:srgbClr val="3399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>
            <a:solidFill>
              <a:srgbClr val="00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72255" y="1300000"/>
            <a:ext cx="8892233" cy="3171574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GB"/>
            </a:defPPr>
            <a:lvl1pPr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1pPr>
            <a:lvl2pPr marL="741363" indent="-28416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2pPr>
            <a:lvl3pPr marL="11414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3pPr>
            <a:lvl4pPr marL="15986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4pPr>
            <a:lvl5pPr marL="20558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9pPr>
          </a:lstStyle>
          <a:p>
            <a:pPr marL="0" indent="0" algn="l" defTabSz="457152" hangingPunct="1">
              <a:lnSpc>
                <a:spcPct val="110000"/>
              </a:lnSpc>
              <a:buNone/>
              <a:defRPr/>
            </a:pPr>
            <a:r>
              <a:rPr lang="sr-Cyrl-RS" altLang="en-US" sz="1900" b="1" dirty="0">
                <a:solidFill>
                  <a:srgbClr val="0A3A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Циљ: мерење утицаја величине модела и квантизације на брзину/тачност транскрипције српског говора</a:t>
            </a:r>
          </a:p>
          <a:p>
            <a:pPr marL="0" algn="l" defTabSz="457152" hangingPunct="1">
              <a:lnSpc>
                <a:spcPct val="60000"/>
              </a:lnSpc>
              <a:buNone/>
              <a:defRPr/>
            </a:pPr>
            <a:endParaRPr lang="sr-Cyrl-RS" altLang="en-US" sz="1000" dirty="0"/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Скуп података: </a:t>
            </a: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Mozilla Common Voice 25.0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(српски), 30 снимака из тест подскупа (MP3, 48 kHz).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Хардвер: </a:t>
            </a: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Apple M1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искључиво CPU извршавање (без GPU-а).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Испитиване комбинације: модели </a:t>
            </a: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tiny / base / small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× квантизација </a:t>
            </a: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INT8 / float32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(6 конфигурација).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Метрике: </a:t>
            </a: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WER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(jiwer библиотека) и </a:t>
            </a: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RTF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(Real-Time Factor)</a:t>
            </a: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beam size = 5, језик унапред задат као српски.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A59DEF-1FC9-41A9-AAE4-B1B2547E6843}"/>
              </a:ext>
            </a:extLst>
          </p:cNvPr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C846CF4-B466-4682-8D57-9140F8774A41}"/>
              </a:ext>
            </a:extLst>
          </p:cNvPr>
          <p:cNvSpPr/>
          <p:nvPr/>
        </p:nvSpPr>
        <p:spPr>
          <a:xfrm>
            <a:off x="502576" y="438622"/>
            <a:ext cx="8200000" cy="65000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GB"/>
            </a:defPPr>
            <a:lvl1pPr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1pPr>
            <a:lvl2pPr marL="741363" indent="-28416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2pPr>
            <a:lvl3pPr marL="11414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3pPr>
            <a:lvl4pPr marL="15986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4pPr>
            <a:lvl5pPr marL="20558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9pPr>
          </a:lstStyle>
          <a:p>
            <a:pPr algn="ctr" defTabSz="457152">
              <a:buFont typeface="Times New Roman" pitchFamily="18" charset="0"/>
              <a:buNone/>
              <a:defRPr/>
            </a:pPr>
            <a:r>
              <a:rPr lang="sr-Cyrl-RS" sz="2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Поставка експеримента</a:t>
            </a:r>
          </a:p>
        </p:txBody>
      </p:sp>
    </p:spTree>
    <p:extLst>
      <p:ext uri="{BB962C8B-B14F-4D97-AF65-F5344CB8AC3E}">
        <p14:creationId xmlns:p14="http://schemas.microsoft.com/office/powerpoint/2010/main" val="29053580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>
            <a:solidFill>
              <a:srgbClr val="3399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>
            <a:solidFill>
              <a:srgbClr val="00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72255" y="1300000"/>
            <a:ext cx="8892233" cy="3882538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GB"/>
            </a:defPPr>
            <a:lvl1pPr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1pPr>
            <a:lvl2pPr marL="741363" indent="-28416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2pPr>
            <a:lvl3pPr marL="11414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3pPr>
            <a:lvl4pPr marL="15986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4pPr>
            <a:lvl5pPr marL="20558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9pPr>
          </a:lstStyle>
          <a:p>
            <a:pPr marL="0" indent="0" algn="l" defTabSz="457152" hangingPunct="1">
              <a:lnSpc>
                <a:spcPct val="110000"/>
              </a:lnSpc>
              <a:buNone/>
              <a:defRPr/>
            </a:pPr>
            <a:r>
              <a:rPr lang="sr-Cyrl-RS" altLang="en-US" sz="2000" b="1" dirty="0">
                <a:solidFill>
                  <a:srgbClr val="0A3A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Детаљи о скупу података и експерименталним параметрима</a:t>
            </a:r>
          </a:p>
          <a:p>
            <a:pPr marL="0" algn="l" defTabSz="457152" hangingPunct="1">
              <a:lnSpc>
                <a:spcPct val="60000"/>
              </a:lnSpc>
              <a:buNone/>
              <a:defRPr/>
            </a:pPr>
            <a:endParaRPr lang="sr-Cyrl-RS" altLang="en-US" sz="1000" dirty="0"/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Mozilla Common Voice 25.0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(српски) </a:t>
            </a: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тест подскуп садржи укупно 1430 снимака; издвојено 30 за овај експеримент.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Сви снимци: MP3 формат, 48 kHz фреквенција одабирања, транскрипти писани ћириличким писмом.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Тестирано шест комбинација: {</a:t>
            </a: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tiny, base, small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} × {</a:t>
            </a: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INT8, float32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}, свака покренута на свих 30 снимака.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Beam size фиксиран на 5; језик унапред задат као српски (без аутоматске детекције језика).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WER рачунат библиотеком </a:t>
            </a: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jiwer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; RTF рачунат као однос времена транскрипције и трајања аудио записа (библиотека </a:t>
            </a: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A59DEF-1FC9-41A9-AAE4-B1B2547E6843}"/>
              </a:ext>
            </a:extLst>
          </p:cNvPr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C846CF4-B466-4682-8D57-9140F8774A41}"/>
              </a:ext>
            </a:extLst>
          </p:cNvPr>
          <p:cNvSpPr/>
          <p:nvPr/>
        </p:nvSpPr>
        <p:spPr>
          <a:xfrm>
            <a:off x="502576" y="438622"/>
            <a:ext cx="8200000" cy="65000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GB"/>
            </a:defPPr>
            <a:lvl1pPr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1pPr>
            <a:lvl2pPr marL="741363" indent="-28416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2pPr>
            <a:lvl3pPr marL="11414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3pPr>
            <a:lvl4pPr marL="15986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4pPr>
            <a:lvl5pPr marL="20558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9pPr>
          </a:lstStyle>
          <a:p>
            <a:pPr algn="ctr" defTabSz="457152">
              <a:buFont typeface="Times New Roman" pitchFamily="18" charset="0"/>
              <a:buNone/>
              <a:defRPr/>
            </a:pPr>
            <a:r>
              <a:rPr lang="sr-Cyrl-RS" sz="2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Скуп података и поставка</a:t>
            </a:r>
          </a:p>
        </p:txBody>
      </p:sp>
    </p:spTree>
    <p:extLst>
      <p:ext uri="{BB962C8B-B14F-4D97-AF65-F5344CB8AC3E}">
        <p14:creationId xmlns:p14="http://schemas.microsoft.com/office/powerpoint/2010/main" val="29053580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>
            <a:solidFill>
              <a:srgbClr val="3399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>
            <a:solidFill>
              <a:srgbClr val="00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72255" y="1300000"/>
            <a:ext cx="8892233" cy="3205429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GB"/>
            </a:defPPr>
            <a:lvl1pPr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1pPr>
            <a:lvl2pPr marL="741363" indent="-28416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2pPr>
            <a:lvl3pPr marL="11414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3pPr>
            <a:lvl4pPr marL="15986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4pPr>
            <a:lvl5pPr marL="20558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9pPr>
          </a:lstStyle>
          <a:p>
            <a:pPr marL="0" indent="0" algn="l" defTabSz="457152" hangingPunct="1">
              <a:lnSpc>
                <a:spcPct val="110000"/>
              </a:lnSpc>
              <a:buNone/>
              <a:defRPr/>
            </a:pPr>
            <a:r>
              <a:rPr lang="sr-Cyrl-RS" altLang="en-US" sz="2000" b="1" dirty="0">
                <a:solidFill>
                  <a:srgbClr val="0A3A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Резултати евалуације (WER ↓ / RTF ↓)</a:t>
            </a:r>
          </a:p>
          <a:p>
            <a:pPr marL="0" algn="l" defTabSz="457152" hangingPunct="1">
              <a:lnSpc>
                <a:spcPct val="60000"/>
              </a:lnSpc>
              <a:buNone/>
              <a:defRPr/>
            </a:pPr>
            <a:endParaRPr lang="sr-Cyrl-RS" altLang="en-US" sz="1000" dirty="0"/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tiny + INT8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 WER = 1,1284   RTF = 0,1160  (најбржа конфигурација, ~8,6× реално време)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tiny + float32:  WER = 1,1014   RTF = 0,1554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base + INT8:  WER = 1,0811   RTF = 0,1379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base + float32:  WER = 1,0676   RTF = 0,2193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small + INT8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 WER = 1,0608   RTF = 0,2532  (најнижи WER </a:t>
            </a: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оптималан избор за тачност)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small + float32:  WER = 1,0676   RTF = 0,3476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A59DEF-1FC9-41A9-AAE4-B1B2547E6843}"/>
              </a:ext>
            </a:extLst>
          </p:cNvPr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C846CF4-B466-4682-8D57-9140F8774A41}"/>
              </a:ext>
            </a:extLst>
          </p:cNvPr>
          <p:cNvSpPr/>
          <p:nvPr/>
        </p:nvSpPr>
        <p:spPr>
          <a:xfrm>
            <a:off x="502576" y="438622"/>
            <a:ext cx="8200000" cy="65000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GB"/>
            </a:defPPr>
            <a:lvl1pPr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1pPr>
            <a:lvl2pPr marL="741363" indent="-28416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2pPr>
            <a:lvl3pPr marL="11414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3pPr>
            <a:lvl4pPr marL="15986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4pPr>
            <a:lvl5pPr marL="20558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9pPr>
          </a:lstStyle>
          <a:p>
            <a:pPr algn="ctr" defTabSz="457152">
              <a:buFont typeface="Times New Roman" pitchFamily="18" charset="0"/>
              <a:buNone/>
              <a:defRPr/>
            </a:pPr>
            <a:r>
              <a:rPr lang="sr-Cyrl-RS" sz="2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Резултати евалуације</a:t>
            </a:r>
          </a:p>
        </p:txBody>
      </p:sp>
    </p:spTree>
    <p:extLst>
      <p:ext uri="{BB962C8B-B14F-4D97-AF65-F5344CB8AC3E}">
        <p14:creationId xmlns:p14="http://schemas.microsoft.com/office/powerpoint/2010/main" val="29053580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>
            <a:solidFill>
              <a:srgbClr val="3399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>
            <a:solidFill>
              <a:srgbClr val="00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72255" y="1196752"/>
            <a:ext cx="8892233" cy="3451651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GB"/>
            </a:defPPr>
            <a:lvl1pPr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1pPr>
            <a:lvl2pPr marL="741363" indent="-28416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2pPr>
            <a:lvl3pPr marL="11414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3pPr>
            <a:lvl4pPr marL="15986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4pPr>
            <a:lvl5pPr marL="20558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9pPr>
          </a:lstStyle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Величина модела: tiny→small (INT8) смањује WER за </a:t>
            </a: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~6%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већи модели имају виши капацитет за сложене обрасце.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INT8 vs float32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код small модела INT8 даје нижи WER него float32 </a:t>
            </a: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разлика вероватно последица варијабилности малог узорка.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Убрзање INT8 на Apple M1 (</a:t>
            </a: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NEON SIMD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): tiny +25%, base +37%, small +27% у односу на float32.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Сви WER резултати </a:t>
            </a: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1,0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последица ограничене заступљености српског језика и ћириличног писма у тренинг скупу Whisper-а.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Препорука: </a:t>
            </a: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tiny+INT8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за примене где је брзина приоритет; </a:t>
            </a: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small+INT8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за примене где је тачност приоритет.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A59DEF-1FC9-41A9-AAE4-B1B2547E6843}"/>
              </a:ext>
            </a:extLst>
          </p:cNvPr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C846CF4-B466-4682-8D57-9140F8774A41}"/>
              </a:ext>
            </a:extLst>
          </p:cNvPr>
          <p:cNvSpPr/>
          <p:nvPr/>
        </p:nvSpPr>
        <p:spPr>
          <a:xfrm>
            <a:off x="502576" y="438622"/>
            <a:ext cx="8200000" cy="65000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GB"/>
            </a:defPPr>
            <a:lvl1pPr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1pPr>
            <a:lvl2pPr marL="741363" indent="-28416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2pPr>
            <a:lvl3pPr marL="11414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3pPr>
            <a:lvl4pPr marL="15986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4pPr>
            <a:lvl5pPr marL="20558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9pPr>
          </a:lstStyle>
          <a:p>
            <a:pPr algn="ctr" defTabSz="457152">
              <a:buFont typeface="Times New Roman" pitchFamily="18" charset="0"/>
              <a:buNone/>
              <a:defRPr/>
            </a:pPr>
            <a:r>
              <a:rPr lang="sr-Cyrl-RS" sz="2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Анализа резултата и препоруке</a:t>
            </a:r>
          </a:p>
        </p:txBody>
      </p:sp>
    </p:spTree>
    <p:extLst>
      <p:ext uri="{BB962C8B-B14F-4D97-AF65-F5344CB8AC3E}">
        <p14:creationId xmlns:p14="http://schemas.microsoft.com/office/powerpoint/2010/main" val="29053580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>
            <a:solidFill>
              <a:srgbClr val="3399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>
            <a:solidFill>
              <a:srgbClr val="00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72255" y="1196752"/>
            <a:ext cx="8892233" cy="2793842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GB"/>
            </a:defPPr>
            <a:lvl1pPr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1pPr>
            <a:lvl2pPr marL="741363" indent="-28416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2pPr>
            <a:lvl3pPr marL="11414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3pPr>
            <a:lvl4pPr marL="15986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4pPr>
            <a:lvl5pPr marL="20558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9pPr>
          </a:lstStyle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CTranslate2 омогућава вишеструка убрзања искључиво кроз оптимизацију инференције, без измена архитектуре модела.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Faster-Whisper постиже </a:t>
            </a: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2–8×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бржу инференцију уз исту тачност и мању потрошњу меморије у односу на оригинал.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Све испитиване комбинације на српском говору постижу </a:t>
            </a: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RTF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знатно испод 1,0 на Apple M1 CPU (без GPU-а).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INT8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квантизација доследно убрзава инференцију (~25–37%) уз занемарљив губитак тачности.</a:t>
            </a:r>
          </a:p>
          <a:p>
            <a:pPr marL="355600" indent="-355600" algn="just" defTabSz="457152" hangingPunct="1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Будући правци: </a:t>
            </a:r>
            <a:r>
              <a:rPr lang="sr-Cyrl-RS" altLang="en-US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fine-tuning</a:t>
            </a:r>
            <a:r>
              <a:rPr lang="sr-Cyrl-R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Whisper-а на српском корпусу, евалуација Distil-Whisper-а, транскрипција у реалном времену.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A59DEF-1FC9-41A9-AAE4-B1B2547E6843}"/>
              </a:ext>
            </a:extLst>
          </p:cNvPr>
          <p:cNvSpPr/>
          <p:nvPr/>
        </p:nvSpPr>
        <p:spPr>
          <a:xfrm>
            <a:off x="-464" y="288032"/>
            <a:ext cx="7127776" cy="90872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C846CF4-B466-4682-8D57-9140F8774A41}"/>
              </a:ext>
            </a:extLst>
          </p:cNvPr>
          <p:cNvSpPr/>
          <p:nvPr/>
        </p:nvSpPr>
        <p:spPr>
          <a:xfrm>
            <a:off x="502576" y="438622"/>
            <a:ext cx="8200000" cy="65000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GB"/>
            </a:defPPr>
            <a:lvl1pPr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1pPr>
            <a:lvl2pPr marL="741363" indent="-28416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2pPr>
            <a:lvl3pPr marL="11414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3pPr>
            <a:lvl4pPr marL="15986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4pPr>
            <a:lvl5pPr marL="20558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9pPr>
          </a:lstStyle>
          <a:p>
            <a:pPr algn="ctr" defTabSz="457152">
              <a:buFont typeface="Times New Roman" pitchFamily="18" charset="0"/>
              <a:buNone/>
              <a:defRPr/>
            </a:pPr>
            <a:r>
              <a:rPr lang="sr-Cyrl-RS" sz="2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Закључак</a:t>
            </a:r>
          </a:p>
        </p:txBody>
      </p:sp>
    </p:spTree>
    <p:extLst>
      <p:ext uri="{BB962C8B-B14F-4D97-AF65-F5344CB8AC3E}">
        <p14:creationId xmlns:p14="http://schemas.microsoft.com/office/powerpoint/2010/main" val="29053580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>
            <a:solidFill>
              <a:srgbClr val="3399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>
            <a:solidFill>
              <a:srgbClr val="00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281A3F-195A-4694-A5D0-24C4C3E0C1C9}"/>
              </a:ext>
            </a:extLst>
          </p:cNvPr>
          <p:cNvSpPr/>
          <p:nvPr/>
        </p:nvSpPr>
        <p:spPr>
          <a:xfrm>
            <a:off x="0" y="284400"/>
            <a:ext cx="6840629" cy="90872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0005E5D-4784-40CB-931B-1D8E32050ECA}"/>
              </a:ext>
            </a:extLst>
          </p:cNvPr>
          <p:cNvSpPr/>
          <p:nvPr/>
        </p:nvSpPr>
        <p:spPr>
          <a:xfrm>
            <a:off x="-464" y="225186"/>
            <a:ext cx="9144464" cy="1122743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GB"/>
            </a:defPPr>
            <a:lvl1pPr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1pPr>
            <a:lvl2pPr marL="741363" indent="-28416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2pPr>
            <a:lvl3pPr marL="11414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3pPr>
            <a:lvl4pPr marL="15986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4pPr>
            <a:lvl5pPr marL="20558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9pPr>
          </a:lstStyle>
          <a:p>
            <a:pPr algn="ctr" defTabSz="457152">
              <a:buFont typeface="Times New Roman" pitchFamily="18" charset="0"/>
              <a:buNone/>
              <a:defRPr/>
            </a:pPr>
            <a:r>
              <a:rPr lang="sr-Cyrl-RS" sz="36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Литература</a:t>
            </a:r>
            <a:r>
              <a:rPr lang="sr-Latn-RS" sz="36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sr-Cyrl-RS" sz="36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  <p:sp>
        <p:nvSpPr>
          <p:cNvPr id="20" name="TextBox Literatura"/>
          <p:cNvSpPr txBox="1"/>
          <p:nvPr/>
        </p:nvSpPr>
        <p:spPr>
          <a:xfrm>
            <a:off x="502576" y="1407143"/>
            <a:ext cx="8200000" cy="4061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55600" indent="-355600" algn="l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sr-Latn-RS" sz="2000" dirty="0"/>
              <a:t>Radford, A. et al. (2022). Robust Speech Recognition via Large-Scale Weak Supervision (Whisper). OpenAI.</a:t>
            </a:r>
          </a:p>
          <a:p>
            <a:pPr marL="355600" indent="-355600" algn="l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sr-Latn-RS" sz="2000" dirty="0"/>
              <a:t>Klein, G. et al. (2020). CTranslate2: Fast Inference Engine for Transformer Models. OpenNMT / SYSTRAN.</a:t>
            </a:r>
          </a:p>
          <a:p>
            <a:pPr marL="355600" indent="-355600" algn="l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sr-Latn-RS" sz="2000" dirty="0"/>
              <a:t>SYSTRAN Team. Faster-Whisper: Faster Whisper transcription with CTranslate2 (GitHub repository).</a:t>
            </a:r>
          </a:p>
          <a:p>
            <a:pPr marL="355600" indent="-355600" algn="l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sr-Latn-RS" sz="2000" dirty="0"/>
              <a:t>Bain, M. et al. (2023). WhisperX: Time-Accurate Speech Transcription of Long-Form Audio.</a:t>
            </a:r>
          </a:p>
          <a:p>
            <a:pPr marL="355600" indent="-355600" algn="l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sr-Latn-RS" sz="2000" dirty="0"/>
              <a:t>Mozilla Common Voice Corpus 25.0 </a:t>
            </a:r>
            <a:r>
              <a:rPr lang="en-US" sz="2000" dirty="0"/>
              <a:t>- </a:t>
            </a:r>
            <a:r>
              <a:rPr lang="sr-Latn-RS" sz="2000" dirty="0"/>
              <a:t>Serbian subset (commonvoice.mozilla.org).</a:t>
            </a:r>
          </a:p>
        </p:txBody>
      </p:sp>
    </p:spTree>
    <p:extLst>
      <p:ext uri="{BB962C8B-B14F-4D97-AF65-F5344CB8AC3E}">
        <p14:creationId xmlns:p14="http://schemas.microsoft.com/office/powerpoint/2010/main" val="41397141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88032"/>
            <a:ext cx="7127776" cy="90872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1196752"/>
            <a:ext cx="395536" cy="1008112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0" y="5589240"/>
            <a:ext cx="395536" cy="1268760"/>
          </a:xfrm>
          <a:prstGeom prst="rect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4221088"/>
            <a:ext cx="395536" cy="1368152"/>
          </a:xfrm>
          <a:prstGeom prst="rect">
            <a:avLst/>
          </a:prstGeom>
          <a:solidFill>
            <a:srgbClr val="339966"/>
          </a:solidFill>
          <a:ln>
            <a:solidFill>
              <a:srgbClr val="3399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0" y="2204864"/>
            <a:ext cx="395536" cy="2016224"/>
          </a:xfrm>
          <a:prstGeom prst="rect">
            <a:avLst/>
          </a:prstGeom>
          <a:solidFill>
            <a:srgbClr val="003300"/>
          </a:solidFill>
          <a:ln>
            <a:solidFill>
              <a:srgbClr val="00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-464" y="0"/>
            <a:ext cx="396000" cy="2844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445197"/>
            <a:ext cx="5292080" cy="607539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GB"/>
            </a:defPPr>
            <a:lvl1pPr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1pPr>
            <a:lvl2pPr marL="741363" indent="-28416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2pPr>
            <a:lvl3pPr marL="11414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3pPr>
            <a:lvl4pPr marL="15986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4pPr>
            <a:lvl5pPr marL="2055813" indent="-227013" algn="l" defTabSz="455613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WenQuanYi Zen Hei" charset="0"/>
                <a:cs typeface="WenQuanYi Zen Hei" charset="0"/>
              </a:defRPr>
            </a:lvl9pPr>
          </a:lstStyle>
          <a:p>
            <a:pPr algn="ctr" defTabSz="457152">
              <a:buFont typeface="Times New Roman" pitchFamily="18" charset="0"/>
              <a:buNone/>
              <a:defRPr/>
            </a:pPr>
            <a:endParaRPr lang="en-GB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11" name="Picture 2" descr="Hvala na pažnji - Minđuše(Nausnice)">
            <a:extLst>
              <a:ext uri="{FF2B5EF4-FFF2-40B4-BE49-F238E27FC236}">
                <a16:creationId xmlns:a16="http://schemas.microsoft.com/office/drawing/2014/main" id="{C4015D04-06C6-481D-BE30-7B7DD94D10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422" y="1214041"/>
            <a:ext cx="7185156" cy="5394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7191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01557c2-69c9-45ef-934d-ac831d30c76a" xsi:nil="true"/>
    <lcf76f155ced4ddcb4097134ff3c332f xmlns="665fbea9-7029-4f57-b1f8-90dd317467d5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5B39425E223BB488DBD11C1820B9B3A" ma:contentTypeVersion="13" ma:contentTypeDescription="Create a new document." ma:contentTypeScope="" ma:versionID="c3c49bf9b49e7cc9fac6ef3d34d3830c">
  <xsd:schema xmlns:xsd="http://www.w3.org/2001/XMLSchema" xmlns:xs="http://www.w3.org/2001/XMLSchema" xmlns:p="http://schemas.microsoft.com/office/2006/metadata/properties" xmlns:ns2="665fbea9-7029-4f57-b1f8-90dd317467d5" xmlns:ns3="a01557c2-69c9-45ef-934d-ac831d30c76a" targetNamespace="http://schemas.microsoft.com/office/2006/metadata/properties" ma:root="true" ma:fieldsID="0fb6887f4a9fa09750db520e4e37d290" ns2:_="" ns3:_="">
    <xsd:import namespace="665fbea9-7029-4f57-b1f8-90dd317467d5"/>
    <xsd:import namespace="a01557c2-69c9-45ef-934d-ac831d30c76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bjectDetectorVersions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65fbea9-7029-4f57-b1f8-90dd317467d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7af6a092-5060-4be4-85e7-89201abfb91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01557c2-69c9-45ef-934d-ac831d30c76a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633a5e8d-ef6b-479b-b541-508b52766956}" ma:internalName="TaxCatchAll" ma:showField="CatchAllData" ma:web="a01557c2-69c9-45ef-934d-ac831d30c76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85D39A2-EFD4-43DE-8959-26D876CD8F0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9634095-88A5-4F7F-AC33-0A63FF3A4490}">
  <ds:schemaRefs>
    <ds:schemaRef ds:uri="http://schemas.microsoft.com/office/2006/metadata/properties"/>
    <ds:schemaRef ds:uri="http://schemas.microsoft.com/office/infopath/2007/PartnerControls"/>
    <ds:schemaRef ds:uri="a01557c2-69c9-45ef-934d-ac831d30c76a"/>
    <ds:schemaRef ds:uri="665fbea9-7029-4f57-b1f8-90dd317467d5"/>
  </ds:schemaRefs>
</ds:datastoreItem>
</file>

<file path=customXml/itemProps3.xml><?xml version="1.0" encoding="utf-8"?>
<ds:datastoreItem xmlns:ds="http://schemas.openxmlformats.org/officeDocument/2006/customXml" ds:itemID="{2B9E2ECD-EC47-43C9-9D49-628E970BBF0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65fbea9-7029-4f57-b1f8-90dd317467d5"/>
    <ds:schemaRef ds:uri="a01557c2-69c9-45ef-934d-ac831d30c76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13712</TotalTime>
  <Words>1153</Words>
  <Application>Microsoft Office PowerPoint</Application>
  <PresentationFormat>On-screen Show (4:3)</PresentationFormat>
  <Paragraphs>96</Paragraphs>
  <Slides>14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MD</dc:creator>
  <cp:lastModifiedBy>Milos Punosevac</cp:lastModifiedBy>
  <cp:revision>354</cp:revision>
  <dcterms:created xsi:type="dcterms:W3CDTF">2019-01-09T23:12:31Z</dcterms:created>
  <dcterms:modified xsi:type="dcterms:W3CDTF">2026-06-30T10:50:19Z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0x010100D5B39425E223BB488DBD11C1820B9B3A</vt:lpwstr>
  </property>
</Properties>
</file>